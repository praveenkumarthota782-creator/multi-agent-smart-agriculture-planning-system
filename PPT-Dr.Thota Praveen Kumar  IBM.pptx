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96" r:id="rId10"/>
    <p:sldId id="264" r:id="rId11"/>
    <p:sldId id="277" r:id="rId12"/>
    <p:sldId id="290" r:id="rId13"/>
    <p:sldId id="286" r:id="rId14"/>
    <p:sldId id="287" r:id="rId15"/>
    <p:sldId id="280" r:id="rId16"/>
    <p:sldId id="288" r:id="rId17"/>
    <p:sldId id="289" r:id="rId18"/>
    <p:sldId id="295"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2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053747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2593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673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5606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praveenkumarthota782-creator/Multi-Agent-Smart-Agriculture-Planning-System.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212012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DR.THOTA PRAVEEN KUMAR</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praveenkumarthota782@gmail.com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8179830943</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Agriculture</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000" b="1" dirty="0"/>
              <a:t>Multi-Agent Smart Agriculture Planning System</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2" name="Picture 1">
            <a:extLst>
              <a:ext uri="{FF2B5EF4-FFF2-40B4-BE49-F238E27FC236}">
                <a16:creationId xmlns:a16="http://schemas.microsoft.com/office/drawing/2014/main" id="{810540EA-44B4-92E3-4BD5-729E12BB5E3A}"/>
              </a:ext>
            </a:extLst>
          </p:cNvPr>
          <p:cNvPicPr>
            <a:picLocks noChangeAspect="1"/>
          </p:cNvPicPr>
          <p:nvPr/>
        </p:nvPicPr>
        <p:blipFill>
          <a:blip r:embed="rId3"/>
          <a:stretch>
            <a:fillRect/>
          </a:stretch>
        </p:blipFill>
        <p:spPr>
          <a:xfrm>
            <a:off x="3914777" y="3714750"/>
            <a:ext cx="1228724" cy="909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a:t>
            </a:r>
            <a:endParaRPr lang="en-IN" sz="2400" b="1" dirty="0"/>
          </a:p>
        </p:txBody>
      </p:sp>
      <p:sp>
        <p:nvSpPr>
          <p:cNvPr id="5" name="TextBox 4">
            <a:extLst>
              <a:ext uri="{FF2B5EF4-FFF2-40B4-BE49-F238E27FC236}">
                <a16:creationId xmlns:a16="http://schemas.microsoft.com/office/drawing/2014/main" id="{9A5E9B07-943B-8B05-7A69-70977A4F8C84}"/>
              </a:ext>
            </a:extLst>
          </p:cNvPr>
          <p:cNvSpPr txBox="1"/>
          <p:nvPr/>
        </p:nvSpPr>
        <p:spPr>
          <a:xfrm>
            <a:off x="1209675" y="1338173"/>
            <a:ext cx="10248900" cy="5438476"/>
          </a:xfrm>
          <a:prstGeom prst="rect">
            <a:avLst/>
          </a:prstGeom>
          <a:noFill/>
        </p:spPr>
        <p:txBody>
          <a:bodyPr wrap="square">
            <a:spAutoFit/>
          </a:bodyPr>
          <a:lstStyle/>
          <a:p>
            <a:pPr>
              <a:buNone/>
            </a:pPr>
            <a:r>
              <a:rPr lang="en-US" b="1" dirty="0"/>
              <a:t>The Challenge</a:t>
            </a:r>
          </a:p>
          <a:p>
            <a:pPr>
              <a:lnSpc>
                <a:spcPct val="150000"/>
              </a:lnSpc>
              <a:buNone/>
            </a:pPr>
            <a:r>
              <a:rPr lang="en-US" dirty="0"/>
              <a:t>Small and marginal farmers often struggle to make timely and informed farming decisions due to changing weather conditions, uncertain market prices, soil variability, pest and disease outbreaks, and limited access to expert agricultural guidance. These challenges lead to lower crop productivity, inefficient resource utilization, higher cultivation costs, and reduced profitability. An AI-powered solution is needed to provide personalized, real-time, and data-driven recommendations that help farmers optimize crop planning, farm management, and market decisions throughout the agricultural lifecycle.</a:t>
            </a:r>
          </a:p>
          <a:p>
            <a:pPr>
              <a:lnSpc>
                <a:spcPct val="150000"/>
              </a:lnSpc>
              <a:buNone/>
            </a:pPr>
            <a:r>
              <a:rPr lang="en-US" b="1" dirty="0"/>
              <a:t>The Objective</a:t>
            </a:r>
          </a:p>
          <a:p>
            <a:pPr>
              <a:lnSpc>
                <a:spcPct val="150000"/>
              </a:lnSpc>
              <a:buNone/>
            </a:pPr>
            <a:r>
              <a:rPr lang="en-US" dirty="0"/>
              <a:t>Develop </a:t>
            </a:r>
            <a:r>
              <a:rPr lang="en-US" b="1" dirty="0" err="1"/>
              <a:t>AgriSmart</a:t>
            </a:r>
            <a:r>
              <a:rPr lang="en-US" b="1" dirty="0"/>
              <a:t> AI</a:t>
            </a:r>
            <a:r>
              <a:rPr lang="en-US" dirty="0"/>
              <a:t>, an Agentic AI-powered Smart Agriculture Planning System using </a:t>
            </a:r>
            <a:r>
              <a:rPr lang="en-US" b="1" dirty="0"/>
              <a:t>IBM watsonx.ai Granite Models</a:t>
            </a:r>
            <a:r>
              <a:rPr lang="en-US" dirty="0"/>
              <a:t>, </a:t>
            </a:r>
            <a:r>
              <a:rPr lang="en-US" b="1" dirty="0"/>
              <a:t>IBM BOB (</a:t>
            </a:r>
            <a:r>
              <a:rPr lang="en-US" b="1" dirty="0" err="1"/>
              <a:t>watsonx</a:t>
            </a:r>
            <a:r>
              <a:rPr lang="en-US" b="1" dirty="0"/>
              <a:t> Orchestrate)</a:t>
            </a:r>
            <a:r>
              <a:rPr lang="en-US" dirty="0"/>
              <a:t>, and </a:t>
            </a:r>
            <a:r>
              <a:rPr lang="en-US" b="1" dirty="0"/>
              <a:t>IBM Cloud</a:t>
            </a:r>
            <a:r>
              <a:rPr lang="en-US" dirty="0"/>
              <a:t>. The solution employs two collaborating AI agents: a </a:t>
            </a:r>
            <a:r>
              <a:rPr lang="en-US" b="1" dirty="0"/>
              <a:t>Farm Intelligence Agent</a:t>
            </a:r>
            <a:r>
              <a:rPr lang="en-US" dirty="0"/>
              <a:t> that collects and analyzes farm-specific data such as soil health, weather forecasts, crop stage, irrigation availability, pest and disease risks, and relevant government schemes by interacting with external APIs and agricultural knowledge bases; and a </a:t>
            </a:r>
            <a:r>
              <a:rPr lang="en-US" b="1" dirty="0"/>
              <a:t>Decision &amp; Advisory Agent</a:t>
            </a:r>
            <a:r>
              <a:rPr lang="en-US" dirty="0"/>
              <a:t> that uses these insights to autonomously generate an optimized crop management plan, including crop selection, irrigation schedules, fertilizer recommendations, pest management strategies, expected yield and profitability, and market timing recommendations. The agents continuously communicate, dynamically update recommendations as environmental and market conditions change, provide transparent explanations for every recommendation, and proactively alert farmers about critical farming actions through an interactive dashboard, enabling sustainable, data-driven, and profitable agriculture</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r>
              <a:rPr lang="en-US" b="1" dirty="0"/>
              <a:t>Proposed Solution</a:t>
            </a:r>
          </a:p>
          <a:p>
            <a:r>
              <a:rPr lang="en-US" dirty="0"/>
              <a:t>Develop </a:t>
            </a:r>
            <a:r>
              <a:rPr lang="en-US" b="1" dirty="0" err="1"/>
              <a:t>AgriSmart</a:t>
            </a:r>
            <a:r>
              <a:rPr lang="en-US" b="1" dirty="0"/>
              <a:t> AI</a:t>
            </a:r>
            <a:r>
              <a:rPr lang="en-US" dirty="0"/>
              <a:t>, an Agentic AI-powered Smart Agriculture Planning System that helps farmers make informed decisions throughout the crop lifecycle using </a:t>
            </a:r>
            <a:r>
              <a:rPr lang="en-US" b="1" dirty="0"/>
              <a:t>IBM watsonx.ai Granite Models</a:t>
            </a:r>
            <a:r>
              <a:rPr lang="en-US" dirty="0"/>
              <a:t>, </a:t>
            </a:r>
            <a:r>
              <a:rPr lang="en-US" b="1" dirty="0"/>
              <a:t>IBM BOB (</a:t>
            </a:r>
            <a:r>
              <a:rPr lang="en-US" b="1" dirty="0" err="1"/>
              <a:t>watsonx</a:t>
            </a:r>
            <a:r>
              <a:rPr lang="en-US" b="1" dirty="0"/>
              <a:t> Orchestrate)</a:t>
            </a:r>
            <a:r>
              <a:rPr lang="en-US" dirty="0"/>
              <a:t>, and </a:t>
            </a:r>
            <a:r>
              <a:rPr lang="en-US" b="1" dirty="0"/>
              <a:t>IBM Cloud</a:t>
            </a:r>
            <a:r>
              <a:rPr lang="en-US" dirty="0"/>
              <a:t>. The platform leverages two collaborating AI agents that continuously analyze farm conditions, generate personalized recommendations, and adapt to changing environmental and market conditions.</a:t>
            </a:r>
          </a:p>
          <a:p>
            <a:r>
              <a:rPr lang="en-US" dirty="0"/>
              <a:t>The </a:t>
            </a:r>
            <a:r>
              <a:rPr lang="en-US" b="1" dirty="0"/>
              <a:t>Farm Intelligence Agent</a:t>
            </a:r>
            <a:r>
              <a:rPr lang="en-US" dirty="0"/>
              <a:t> gathers and processes real-time farm-specific data from multiple sources, including soil health reports, weather forecasts, irrigation availability, crop growth stage, pest and disease alerts, satellite imagery, and agricultural knowledge bases. It continuously monitors these factors to build a comprehensive understanding of the farm's current conditions and identifies potential risks or opportunities.</a:t>
            </a:r>
          </a:p>
          <a:p>
            <a:r>
              <a:rPr lang="en-US" dirty="0"/>
              <a:t>The </a:t>
            </a:r>
            <a:r>
              <a:rPr lang="en-US" b="1" dirty="0"/>
              <a:t>Decision &amp; Advisory Agent</a:t>
            </a:r>
            <a:r>
              <a:rPr lang="en-US" dirty="0"/>
              <a:t> uses the insights generated by the Farm Intelligence Agent to create an optimized crop management plan tailored to each farmer. It recommends suitable crops, irrigation schedules, fertilizer application plans, pest and disease management strategies, harvesting timelines, expected yield and profitability, relevant government schemes, and the optimal market timing for selling produce. Every recommendation is accompanied by a clear explanation, enabling farmers to understand the reasoning behind each decision and build trust in the system.</a:t>
            </a:r>
          </a:p>
          <a:p>
            <a:r>
              <a:rPr lang="en-US" dirty="0"/>
              <a:t>The two AI agents communicate seamlessly through </a:t>
            </a:r>
            <a:r>
              <a:rPr lang="en-US" b="1" dirty="0"/>
              <a:t>IBM BOB (</a:t>
            </a:r>
            <a:r>
              <a:rPr lang="en-US" b="1" dirty="0" err="1"/>
              <a:t>watsonx</a:t>
            </a:r>
            <a:r>
              <a:rPr lang="en-US" b="1" dirty="0"/>
              <a:t> Orchestrate)</a:t>
            </a:r>
            <a:r>
              <a:rPr lang="en-US" dirty="0"/>
              <a:t>, enabling continuous collaboration and dynamic updates whenever weather forecasts, soil conditions, pest risks, or market prices change. The system proactively notifies farmers about critical actions such as irrigation schedules, fertilizer application, pest outbreaks, extreme weather events, and favorable market opportunities.</a:t>
            </a:r>
          </a:p>
          <a:p>
            <a:r>
              <a:rPr lang="en-US" dirty="0"/>
              <a:t>An interactive dashboard presents real-time farm insights, AI-generated recommendations, weather forecasts, crop health status, profitability estimates, government scheme information, and alerts in a simple and intuitive format. By combining real-time data, autonomous AI agents, and explainable recommendations, </a:t>
            </a:r>
            <a:r>
              <a:rPr lang="en-US" b="1" dirty="0" err="1"/>
              <a:t>AgriSmart</a:t>
            </a:r>
            <a:r>
              <a:rPr lang="en-US" b="1" dirty="0"/>
              <a:t> AI</a:t>
            </a:r>
            <a:r>
              <a:rPr lang="en-US" dirty="0"/>
              <a:t> empowers farmers to make data-driven decisions, improve productivity, reduce input costs, enhance sustainability, and maximize profitability throughout the agricultural lifecycle</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03443"/>
            <a:ext cx="10607040" cy="830997"/>
          </a:xfrm>
          <a:prstGeom prst="rect">
            <a:avLst/>
          </a:prstGeom>
          <a:noFill/>
        </p:spPr>
        <p:txBody>
          <a:bodyPr wrap="square" rtlCol="0">
            <a:spAutoFit/>
          </a:bodyPr>
          <a:lstStyle/>
          <a:p>
            <a:r>
              <a:rPr lang="en-US" sz="2400" b="1" dirty="0"/>
              <a:t>Proposed Solution: </a:t>
            </a:r>
            <a:r>
              <a:rPr lang="en-IN" sz="2400" b="1" dirty="0"/>
              <a:t>Multi-Agent Smart Agriculture Planning System</a:t>
            </a:r>
            <a:endParaRPr lang="en-US" sz="2400" b="1" dirty="0"/>
          </a:p>
          <a:p>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endParaRPr lang="en-US" sz="1800" dirty="0"/>
          </a:p>
          <a:p>
            <a:pPr marL="285750" indent="-285750">
              <a:buFont typeface="Arial" panose="020B0604020202020204" pitchFamily="34" charset="0"/>
              <a:buChar char="•"/>
            </a:pPr>
            <a:r>
              <a:rPr lang="en-US" sz="1800" b="1" dirty="0"/>
              <a:t>IBM Watson </a:t>
            </a:r>
            <a:r>
              <a:rPr lang="en-US" sz="1800" b="1" dirty="0" err="1"/>
              <a:t>studio,watson</a:t>
            </a:r>
            <a:r>
              <a:rPr lang="en-US" sz="1800" b="1" dirty="0"/>
              <a:t> </a:t>
            </a:r>
            <a:r>
              <a:rPr lang="en-US" sz="1800" b="1" dirty="0" err="1"/>
              <a:t>runtime,cloud</a:t>
            </a:r>
            <a:r>
              <a:rPr lang="en-US" sz="1800" b="1" dirty="0"/>
              <a:t> object </a:t>
            </a:r>
            <a:r>
              <a:rPr lang="en-US" sz="1800" b="1" dirty="0" err="1"/>
              <a:t>storsge</a:t>
            </a:r>
            <a:r>
              <a:rPr lang="en-US" sz="1800" b="1" dirty="0"/>
              <a:t> – </a:t>
            </a:r>
            <a:r>
              <a:rPr lang="en-US" sz="1800" dirty="0"/>
              <a:t>For</a:t>
            </a:r>
            <a:r>
              <a:rPr lang="en-US" sz="1800" b="1" dirty="0"/>
              <a:t> </a:t>
            </a:r>
            <a:r>
              <a:rPr lang="en-US" sz="1800" dirty="0"/>
              <a:t>creating new project on IBM cloud</a:t>
            </a:r>
          </a:p>
          <a:p>
            <a:pPr marL="285750" indent="-285750">
              <a:buFont typeface="Arial" panose="020B0604020202020204" pitchFamily="34" charset="0"/>
              <a:buChar char="•"/>
            </a:pPr>
            <a:r>
              <a:rPr lang="en-US" sz="1800" b="1" dirty="0"/>
              <a:t>Prompt engineering- </a:t>
            </a:r>
            <a:r>
              <a:rPr lang="en-US" sz="1800" dirty="0"/>
              <a:t>for defining the goal of the agent</a:t>
            </a:r>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2638" y="1167846"/>
            <a:ext cx="8788770" cy="5210786"/>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0037" y="902898"/>
            <a:ext cx="9809018" cy="581568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8655" y="138545"/>
            <a:ext cx="11368818" cy="523220"/>
          </a:xfrm>
          <a:prstGeom prst="rect">
            <a:avLst/>
          </a:prstGeom>
          <a:noFill/>
        </p:spPr>
        <p:txBody>
          <a:bodyPr wrap="none" rtlCol="0">
            <a:spAutoFit/>
          </a:bodyPr>
          <a:lstStyle/>
          <a:p>
            <a:r>
              <a:rPr lang="en-US" sz="2800" b="1" dirty="0"/>
              <a:t>User interface for </a:t>
            </a:r>
            <a:r>
              <a:rPr lang="en-IN" sz="2800" b="1" dirty="0"/>
              <a:t>Multi-Agent Smart Agriculture Planning System</a:t>
            </a:r>
            <a:endParaRPr lang="en-US" b="1" dirty="0"/>
          </a:p>
        </p:txBody>
      </p:sp>
      <p:pic>
        <p:nvPicPr>
          <p:cNvPr id="7" name="Picture 6">
            <a:extLst>
              <a:ext uri="{FF2B5EF4-FFF2-40B4-BE49-F238E27FC236}">
                <a16:creationId xmlns:a16="http://schemas.microsoft.com/office/drawing/2014/main" id="{01C72F5B-44A7-127F-DE9F-B3F70F5EFE00}"/>
              </a:ext>
            </a:extLst>
          </p:cNvPr>
          <p:cNvPicPr>
            <a:picLocks noChangeAspect="1"/>
          </p:cNvPicPr>
          <p:nvPr/>
        </p:nvPicPr>
        <p:blipFill>
          <a:blip r:embed="rId2"/>
          <a:stretch>
            <a:fillRect/>
          </a:stretch>
        </p:blipFill>
        <p:spPr>
          <a:xfrm>
            <a:off x="803358" y="771525"/>
            <a:ext cx="11388642" cy="571832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6519495-28E2-0DDE-9D71-E7AE2A46C5D3}"/>
              </a:ext>
            </a:extLst>
          </p:cNvPr>
          <p:cNvPicPr>
            <a:picLocks noChangeAspect="1"/>
          </p:cNvPicPr>
          <p:nvPr/>
        </p:nvPicPr>
        <p:blipFill>
          <a:blip r:embed="rId2"/>
          <a:stretch>
            <a:fillRect/>
          </a:stretch>
        </p:blipFill>
        <p:spPr>
          <a:xfrm>
            <a:off x="942975" y="902373"/>
            <a:ext cx="10306050" cy="5053254"/>
          </a:xfrm>
          <a:prstGeom prst="rect">
            <a:avLst/>
          </a:prstGeom>
        </p:spPr>
      </p:pic>
      <p:sp>
        <p:nvSpPr>
          <p:cNvPr id="8" name="Google Shape;135;p5">
            <a:extLst>
              <a:ext uri="{FF2B5EF4-FFF2-40B4-BE49-F238E27FC236}">
                <a16:creationId xmlns:a16="http://schemas.microsoft.com/office/drawing/2014/main" id="{78578745-3233-E2C4-2AF4-55BA57C68D3F}"/>
              </a:ext>
            </a:extLst>
          </p:cNvPr>
          <p:cNvSpPr/>
          <p:nvPr/>
        </p:nvSpPr>
        <p:spPr>
          <a:xfrm>
            <a:off x="537590" y="323239"/>
            <a:ext cx="10625710"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sym typeface="Calibri"/>
              </a:rPr>
              <a:t>User prompt for </a:t>
            </a:r>
            <a:r>
              <a:rPr lang="en-IN" sz="2400" b="1" dirty="0"/>
              <a:t>Multi-Agent Smart Agriculture Planning System</a:t>
            </a:r>
            <a:endParaRPr lang="en-US" sz="2400" b="1" dirty="0"/>
          </a:p>
          <a:p>
            <a:pPr lvl="0"/>
            <a:r>
              <a:rPr lang="en-US" sz="2400" b="1" dirty="0">
                <a:solidFill>
                  <a:schemeClr val="dk1"/>
                </a:solidFill>
                <a:latin typeface="Calibri"/>
                <a:ea typeface="Calibri"/>
                <a:cs typeface="Calibri"/>
                <a:sym typeface="Calibri"/>
              </a:rPr>
              <a:t>  </a:t>
            </a:r>
            <a:endParaRPr lang="en-US" sz="2400" dirty="0"/>
          </a:p>
        </p:txBody>
      </p:sp>
    </p:spTree>
    <p:extLst>
      <p:ext uri="{BB962C8B-B14F-4D97-AF65-F5344CB8AC3E}">
        <p14:creationId xmlns:p14="http://schemas.microsoft.com/office/powerpoint/2010/main" val="4038574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Response</a:t>
            </a:r>
            <a:endParaRPr lang="en-IN" sz="3200" b="1" dirty="0"/>
          </a:p>
        </p:txBody>
      </p:sp>
      <p:pic>
        <p:nvPicPr>
          <p:cNvPr id="4" name="Picture 3">
            <a:extLst>
              <a:ext uri="{FF2B5EF4-FFF2-40B4-BE49-F238E27FC236}">
                <a16:creationId xmlns:a16="http://schemas.microsoft.com/office/drawing/2014/main" id="{3B064D53-A3E8-3D90-2A6A-FB9D5C9AFA0C}"/>
              </a:ext>
            </a:extLst>
          </p:cNvPr>
          <p:cNvPicPr>
            <a:picLocks noChangeAspect="1"/>
          </p:cNvPicPr>
          <p:nvPr/>
        </p:nvPicPr>
        <p:blipFill>
          <a:blip r:embed="rId3"/>
          <a:stretch>
            <a:fillRect/>
          </a:stretch>
        </p:blipFill>
        <p:spPr>
          <a:xfrm>
            <a:off x="635828" y="846680"/>
            <a:ext cx="10920344" cy="612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9" name="Picture 8">
            <a:extLst>
              <a:ext uri="{FF2B5EF4-FFF2-40B4-BE49-F238E27FC236}">
                <a16:creationId xmlns:a16="http://schemas.microsoft.com/office/drawing/2014/main" id="{B1A56154-AEB9-E74F-A0DA-07CDBDC5B6DA}"/>
              </a:ext>
            </a:extLst>
          </p:cNvPr>
          <p:cNvPicPr>
            <a:picLocks noChangeAspect="1"/>
          </p:cNvPicPr>
          <p:nvPr/>
        </p:nvPicPr>
        <p:blipFill>
          <a:blip r:embed="rId3"/>
          <a:stretch>
            <a:fillRect/>
          </a:stretch>
        </p:blipFill>
        <p:spPr>
          <a:xfrm>
            <a:off x="324595" y="1233057"/>
            <a:ext cx="11447458" cy="5209308"/>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152470" y="112960"/>
            <a:ext cx="8267630" cy="704017"/>
          </a:xfrm>
          <a:prstGeom prst="rect">
            <a:avLst/>
          </a:prstGeom>
          <a:noFill/>
          <a:ln>
            <a:noFill/>
          </a:ln>
        </p:spPr>
        <p:txBody>
          <a:bodyPr spcFirstLastPara="1" wrap="square" lIns="0" tIns="0" rIns="0" bIns="0" anchor="t" anchorCtr="0">
            <a:noAutofit/>
          </a:bodyPr>
          <a:lstStyle/>
          <a:p>
            <a:pPr lvl="0"/>
            <a:r>
              <a:rPr lang="en-US" sz="2800" b="1">
                <a:solidFill>
                  <a:schemeClr val="dk1"/>
                </a:solidFill>
                <a:latin typeface="Calibri"/>
                <a:ea typeface="Calibri"/>
                <a:cs typeface="Calibri"/>
                <a:sym typeface="Calibri"/>
              </a:rPr>
              <a:t>Architecture blueprint</a:t>
            </a:r>
            <a:endParaRPr lang="en-US" sz="2800"/>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1" name="Picture 10">
            <a:extLst>
              <a:ext uri="{FF2B5EF4-FFF2-40B4-BE49-F238E27FC236}">
                <a16:creationId xmlns:a16="http://schemas.microsoft.com/office/drawing/2014/main" id="{A1848F1D-C849-BE98-B97B-4D2AD584DD46}"/>
              </a:ext>
            </a:extLst>
          </p:cNvPr>
          <p:cNvPicPr>
            <a:picLocks noChangeAspect="1"/>
          </p:cNvPicPr>
          <p:nvPr/>
        </p:nvPicPr>
        <p:blipFill>
          <a:blip r:embed="rId3"/>
          <a:stretch>
            <a:fillRect/>
          </a:stretch>
        </p:blipFill>
        <p:spPr>
          <a:xfrm>
            <a:off x="1343025" y="820899"/>
            <a:ext cx="9505950" cy="5216202"/>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16451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1178289" y="840955"/>
            <a:ext cx="9890763" cy="6155531"/>
          </a:xfrm>
          <a:prstGeom prst="rect">
            <a:avLst/>
          </a:prstGeom>
          <a:noFill/>
        </p:spPr>
        <p:txBody>
          <a:bodyPr wrap="square" rtlCol="0">
            <a:spAutoFit/>
          </a:bodyPr>
          <a:lstStyle/>
          <a:p>
            <a:pPr algn="just"/>
            <a:r>
              <a:rPr lang="en-US" sz="2000" dirty="0"/>
              <a:t>The proposed </a:t>
            </a:r>
            <a:r>
              <a:rPr lang="en-US" sz="2000" dirty="0" err="1"/>
              <a:t>AgriMarket</a:t>
            </a:r>
            <a:r>
              <a:rPr lang="en-US" sz="2000" dirty="0"/>
              <a:t> AI combines Agentic AI, RAG, and real-time market intelligence to deliver smart, personalized crop marketing recommendations.</a:t>
            </a:r>
          </a:p>
          <a:p>
            <a:pPr algn="just"/>
            <a:r>
              <a:rPr lang="en-US" sz="2000" b="1" dirty="0"/>
              <a:t>Multi-Agent Intelligence </a:t>
            </a:r>
            <a:r>
              <a:rPr lang="en-US" sz="2000" dirty="0"/>
              <a:t>– Two AI agents collaborate to collect market data and generate optimal selling strategies.</a:t>
            </a:r>
          </a:p>
          <a:p>
            <a:pPr algn="just"/>
            <a:r>
              <a:rPr lang="en-US" sz="2000" b="1" dirty="0"/>
              <a:t>RAG-Powered Insights </a:t>
            </a:r>
            <a:r>
              <a:rPr lang="en-US" sz="2000" dirty="0"/>
              <a:t>– Retrieves real-time crop prices, demand trends, MSP, and government schemes from trusted sources. </a:t>
            </a:r>
          </a:p>
          <a:p>
            <a:pPr algn="just"/>
            <a:r>
              <a:rPr lang="en-US" sz="2000" b="1" dirty="0"/>
              <a:t>Personalized Recommendations </a:t>
            </a:r>
            <a:r>
              <a:rPr lang="en-US" sz="2000" dirty="0"/>
              <a:t>– Suggests the best market, selling time, and pricing strategy based on crop, location, and transportation costs. </a:t>
            </a:r>
          </a:p>
          <a:p>
            <a:pPr algn="just"/>
            <a:r>
              <a:rPr lang="en-US" sz="2000" b="1" dirty="0"/>
              <a:t>Explainable AI </a:t>
            </a:r>
            <a:r>
              <a:rPr lang="en-US" sz="2000" dirty="0"/>
              <a:t>– Provides transparent reasoning behind every recommendation to build farmer trust. </a:t>
            </a:r>
          </a:p>
          <a:p>
            <a:pPr algn="just"/>
            <a:r>
              <a:rPr lang="en-US" sz="2000" b="1" dirty="0"/>
              <a:t>Real-Time Decision Support </a:t>
            </a:r>
            <a:r>
              <a:rPr lang="en-US" sz="2000" dirty="0"/>
              <a:t>– Continuously updates recommendations as market conditions change. </a:t>
            </a:r>
          </a:p>
          <a:p>
            <a:pPr algn="just"/>
            <a:r>
              <a:rPr lang="en-US" sz="2000" b="1" dirty="0"/>
              <a:t>Interactive Dashboard </a:t>
            </a:r>
            <a:r>
              <a:rPr lang="en-US" sz="2000" dirty="0"/>
              <a:t>– Displays market comparisons, price trends, profit estimates, and AI insights through intuitive visualizations. </a:t>
            </a:r>
          </a:p>
          <a:p>
            <a:pPr algn="just"/>
            <a:r>
              <a:rPr lang="en-US" sz="2000" b="1" dirty="0"/>
              <a:t>Enterprise-Ready Solution </a:t>
            </a:r>
            <a:r>
              <a:rPr lang="en-US" sz="2000" dirty="0"/>
              <a:t>– Built on IBM Bob, IBM watsonx.ai, IBM Cloud, and Granite Models for scalability, reliability, and AI governance. </a:t>
            </a:r>
          </a:p>
          <a:p>
            <a:pPr algn="just"/>
            <a:r>
              <a:rPr lang="en-US" sz="2000" dirty="0" err="1"/>
              <a:t>AgriMarket</a:t>
            </a:r>
            <a:r>
              <a:rPr lang="en-US" sz="2000" dirty="0"/>
              <a:t> AI is more than a price lookup tool—it is an intelligent AI-powered crop marketing advisor that enables farmers to maximize profits through data-driven decisions.</a:t>
            </a:r>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1810CD56-B441-0C05-CADF-4C9A7439C3CC}"/>
              </a:ext>
            </a:extLst>
          </p:cNvPr>
          <p:cNvSpPr txBox="1"/>
          <p:nvPr/>
        </p:nvSpPr>
        <p:spPr>
          <a:xfrm>
            <a:off x="1044988" y="1706013"/>
            <a:ext cx="6517100" cy="954107"/>
          </a:xfrm>
          <a:prstGeom prst="rect">
            <a:avLst/>
          </a:prstGeom>
          <a:noFill/>
        </p:spPr>
        <p:txBody>
          <a:bodyPr wrap="square" rtlCol="0">
            <a:spAutoFit/>
          </a:bodyPr>
          <a:lstStyle/>
          <a:p>
            <a:r>
              <a:rPr lang="en-IN" dirty="0"/>
              <a:t>1. Generative AI in Action </a:t>
            </a:r>
            <a:r>
              <a:rPr lang="en-IN" dirty="0" err="1"/>
              <a:t>Credly</a:t>
            </a:r>
            <a:r>
              <a:rPr lang="en-IN" dirty="0"/>
              <a:t> Certificate</a:t>
            </a:r>
          </a:p>
          <a:p>
            <a:r>
              <a:rPr lang="en-IN" dirty="0"/>
              <a:t>2. IBM BOB Certificate</a:t>
            </a:r>
          </a:p>
          <a:p>
            <a:r>
              <a:rPr lang="en-IN" dirty="0"/>
              <a:t>3. PPT</a:t>
            </a:r>
          </a:p>
          <a:p>
            <a:r>
              <a:rPr lang="en-IN" dirty="0"/>
              <a:t>4. Problem Statement</a:t>
            </a:r>
          </a:p>
        </p:txBody>
      </p:sp>
      <p:sp>
        <p:nvSpPr>
          <p:cNvPr id="2" name="TextBox 1">
            <a:extLst>
              <a:ext uri="{FF2B5EF4-FFF2-40B4-BE49-F238E27FC236}">
                <a16:creationId xmlns:a16="http://schemas.microsoft.com/office/drawing/2014/main" id="{4ADC1A44-C6CF-DFE7-EFF7-53595868BCCB}"/>
              </a:ext>
            </a:extLst>
          </p:cNvPr>
          <p:cNvSpPr txBox="1"/>
          <p:nvPr/>
        </p:nvSpPr>
        <p:spPr>
          <a:xfrm>
            <a:off x="790575" y="1028700"/>
            <a:ext cx="8161209" cy="307777"/>
          </a:xfrm>
          <a:prstGeom prst="rect">
            <a:avLst/>
          </a:prstGeom>
          <a:noFill/>
        </p:spPr>
        <p:txBody>
          <a:bodyPr wrap="none" rtlCol="0">
            <a:spAutoFit/>
          </a:bodyPr>
          <a:lstStyle/>
          <a:p>
            <a:r>
              <a:rPr lang="en-IN" dirty="0">
                <a:hlinkClick r:id="rId3"/>
              </a:rPr>
              <a:t>https://github.com/praveenkumarthota782-creator/Multi-Agent-Smart-Agriculture-Planning-System.git</a:t>
            </a:r>
            <a:r>
              <a:rPr lang="en-IN" dirty="0"/>
              <a:t> </a:t>
            </a: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p:cNvSpPr txBox="1"/>
          <p:nvPr/>
        </p:nvSpPr>
        <p:spPr>
          <a:xfrm>
            <a:off x="447675" y="885825"/>
            <a:ext cx="11515725" cy="6124754"/>
          </a:xfrm>
          <a:prstGeom prst="rect">
            <a:avLst/>
          </a:prstGeom>
          <a:noFill/>
        </p:spPr>
        <p:txBody>
          <a:bodyPr wrap="square" rtlCol="0">
            <a:spAutoFit/>
          </a:bodyPr>
          <a:lstStyle/>
          <a:p>
            <a:endParaRPr lang="en-US" b="1" dirty="0"/>
          </a:p>
          <a:p>
            <a:r>
              <a:rPr lang="en-US" dirty="0" err="1"/>
              <a:t>AgriSmart</a:t>
            </a:r>
            <a:r>
              <a:rPr lang="en-US" dirty="0"/>
              <a:t> AI can be expanded beyond crop planning into a comprehensive digital farming ecosystem. Potential future enhancements include:</a:t>
            </a:r>
          </a:p>
          <a:p>
            <a:r>
              <a:rPr lang="en-US" b="1" dirty="0"/>
              <a:t>1. IoT-Based Smart Farming</a:t>
            </a:r>
          </a:p>
          <a:p>
            <a:r>
              <a:rPr lang="en-US" dirty="0"/>
              <a:t>Integrate IoT sensors to collect real-time data on soil moisture, temperature, humidity, pH, and nutrient levels, enabling automated and highly accurate farming recommendations.</a:t>
            </a:r>
          </a:p>
          <a:p>
            <a:r>
              <a:rPr lang="en-US" b="1" dirty="0"/>
              <a:t>2. AI-Powered Crop Disease Detection</a:t>
            </a:r>
          </a:p>
          <a:p>
            <a:r>
              <a:rPr lang="en-US" dirty="0"/>
              <a:t>Incorporate computer vision models that analyze images captured from smartphones or drones to detect crop diseases, pest infestations, and nutrient deficiencies at an early stage.</a:t>
            </a:r>
          </a:p>
          <a:p>
            <a:r>
              <a:rPr lang="en-US" b="1" dirty="0"/>
              <a:t>3. Satellite and Drone Monitoring</a:t>
            </a:r>
          </a:p>
          <a:p>
            <a:r>
              <a:rPr lang="en-US" dirty="0"/>
              <a:t>Leverage satellite imagery and drone-based remote sensing to monitor crop health, estimate biomass, detect water stress, and identify affected areas across large farms.</a:t>
            </a:r>
          </a:p>
          <a:p>
            <a:r>
              <a:rPr lang="en-US" b="1" dirty="0"/>
              <a:t>4. Precision Agriculture</a:t>
            </a:r>
          </a:p>
          <a:p>
            <a:r>
              <a:rPr lang="en-US" dirty="0"/>
              <a:t>Provide field-specific recommendations by dividing farms into management zones, optimizing irrigation, fertilizer application, and pesticide usage to reduce costs and environmental impact.</a:t>
            </a:r>
          </a:p>
          <a:p>
            <a:r>
              <a:rPr lang="en-US" b="1" dirty="0"/>
              <a:t>5. Predictive Yield and Profit Analytics</a:t>
            </a:r>
          </a:p>
          <a:p>
            <a:r>
              <a:rPr lang="en-US" dirty="0"/>
              <a:t>Enhance AI models to forecast crop yield, production costs, market demand, and profitability using historical data, weather patterns, and market trends.</a:t>
            </a:r>
          </a:p>
          <a:p>
            <a:r>
              <a:rPr lang="en-US" b="1" dirty="0"/>
              <a:t>6. Smart Irrigation Automation</a:t>
            </a:r>
          </a:p>
          <a:p>
            <a:r>
              <a:rPr lang="en-US" dirty="0"/>
              <a:t>Integrate with automated irrigation systems to control water delivery based on real-time soil moisture, weather forecasts, and crop water requirements.</a:t>
            </a:r>
          </a:p>
          <a:p>
            <a:r>
              <a:rPr lang="en-US" b="1" dirty="0"/>
              <a:t>7. Advanced Market Intelligence</a:t>
            </a:r>
          </a:p>
          <a:p>
            <a:r>
              <a:rPr lang="en-US" dirty="0"/>
              <a:t>Expand market analysis with real-time price forecasting, demand prediction, transportation cost optimization, storage recommendations, and buyer matching to maximize farmer profits.</a:t>
            </a:r>
          </a:p>
          <a:p>
            <a:r>
              <a:rPr lang="en-US" b="1" dirty="0"/>
              <a:t>8. Voice-Based Multilingual Assistant</a:t>
            </a:r>
          </a:p>
          <a:p>
            <a:r>
              <a:rPr lang="en-US" dirty="0"/>
              <a:t>Support regional languages and voice interactions, enabling farmers to access recommendations and alerts through speech, making the system accessible to users with limited literacy.</a:t>
            </a:r>
          </a:p>
          <a:p>
            <a:r>
              <a:rPr lang="en-US" dirty="0"/>
              <a:t>.</a:t>
            </a:r>
          </a:p>
          <a:p>
            <a:endParaRPr lang="en-US" dirty="0"/>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Earned:1</a:t>
            </a: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99496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r>
              <a:rPr lang="en-US" sz="2000" b="1" dirty="0"/>
              <a:t>Generative AI in Action certificate </a:t>
            </a:r>
            <a:endParaRPr lang="en-US" sz="2800" b="1" dirty="0"/>
          </a:p>
        </p:txBody>
      </p:sp>
      <p:pic>
        <p:nvPicPr>
          <p:cNvPr id="7" name="Picture 6">
            <a:extLst>
              <a:ext uri="{FF2B5EF4-FFF2-40B4-BE49-F238E27FC236}">
                <a16:creationId xmlns:a16="http://schemas.microsoft.com/office/drawing/2014/main" id="{D2E83175-762C-39AC-8760-CAA4659F0745}"/>
              </a:ext>
            </a:extLst>
          </p:cNvPr>
          <p:cNvPicPr>
            <a:picLocks noChangeAspect="1"/>
          </p:cNvPicPr>
          <p:nvPr/>
        </p:nvPicPr>
        <p:blipFill>
          <a:blip r:embed="rId2"/>
          <a:stretch>
            <a:fillRect/>
          </a:stretch>
        </p:blipFill>
        <p:spPr>
          <a:xfrm>
            <a:off x="1748412" y="1352550"/>
            <a:ext cx="8114206" cy="505049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r>
              <a:rPr lang="en-US" sz="2400" b="0" i="0" dirty="0">
                <a:solidFill>
                  <a:srgbClr val="000000"/>
                </a:solidFill>
                <a:latin typeface="Arial"/>
                <a:ea typeface="Arial"/>
                <a:cs typeface="Arial"/>
              </a:rPr>
              <a:t>2</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8752B951-92A9-A987-870D-602749B8FFF5}"/>
              </a:ext>
            </a:extLst>
          </p:cNvPr>
          <p:cNvPicPr>
            <a:picLocks noChangeAspect="1"/>
          </p:cNvPicPr>
          <p:nvPr/>
        </p:nvPicPr>
        <p:blipFill>
          <a:blip r:embed="rId2"/>
          <a:stretch>
            <a:fillRect/>
          </a:stretch>
        </p:blipFill>
        <p:spPr>
          <a:xfrm>
            <a:off x="2487617" y="1173284"/>
            <a:ext cx="7216765" cy="451143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F9E3-E681-3E26-6140-9B420F57D653}"/>
              </a:ext>
            </a:extLst>
          </p:cNvPr>
          <p:cNvSpPr>
            <a:spLocks noGrp="1"/>
          </p:cNvSpPr>
          <p:nvPr>
            <p:ph type="title"/>
          </p:nvPr>
        </p:nvSpPr>
        <p:spPr>
          <a:xfrm>
            <a:off x="923290" y="932118"/>
            <a:ext cx="10515600" cy="722566"/>
          </a:xfrm>
        </p:spPr>
        <p:txBody>
          <a:bodyPr>
            <a:normAutofit fontScale="90000"/>
          </a:bodyPr>
          <a:lstStyle/>
          <a:p>
            <a:r>
              <a:rPr lang="en-US" dirty="0"/>
              <a:t>IBM SKILLS BUILD PROFILE</a:t>
            </a:r>
            <a:endParaRPr lang="en-IN" dirty="0"/>
          </a:p>
        </p:txBody>
      </p:sp>
      <p:pic>
        <p:nvPicPr>
          <p:cNvPr id="5" name="Picture 4">
            <a:extLst>
              <a:ext uri="{FF2B5EF4-FFF2-40B4-BE49-F238E27FC236}">
                <a16:creationId xmlns:a16="http://schemas.microsoft.com/office/drawing/2014/main" id="{5B08DCA1-BFFB-78B3-B3CB-998D28EA87F3}"/>
              </a:ext>
            </a:extLst>
          </p:cNvPr>
          <p:cNvPicPr>
            <a:picLocks noChangeAspect="1"/>
          </p:cNvPicPr>
          <p:nvPr/>
        </p:nvPicPr>
        <p:blipFill>
          <a:blip r:embed="rId2"/>
          <a:stretch>
            <a:fillRect/>
          </a:stretch>
        </p:blipFill>
        <p:spPr>
          <a:xfrm>
            <a:off x="1401673" y="1485900"/>
            <a:ext cx="9388654" cy="4918968"/>
          </a:xfrm>
          <a:prstGeom prst="rect">
            <a:avLst/>
          </a:prstGeom>
        </p:spPr>
      </p:pic>
    </p:spTree>
    <p:extLst>
      <p:ext uri="{BB962C8B-B14F-4D97-AF65-F5344CB8AC3E}">
        <p14:creationId xmlns:p14="http://schemas.microsoft.com/office/powerpoint/2010/main" val="166958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845</TotalTime>
  <Words>1389</Words>
  <Application>Microsoft Office PowerPoint</Application>
  <PresentationFormat>Widescreen</PresentationFormat>
  <Paragraphs>119</Paragraphs>
  <Slides>19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SKILLS BUILD PROFILE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Praveen Thota</cp:lastModifiedBy>
  <cp:revision>46</cp:revision>
  <dcterms:created xsi:type="dcterms:W3CDTF">2025-07-08T05:06:56Z</dcterms:created>
  <dcterms:modified xsi:type="dcterms:W3CDTF">2026-07-04T06:16:41Z</dcterms:modified>
</cp:coreProperties>
</file>